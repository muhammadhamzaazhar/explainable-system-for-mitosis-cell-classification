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Fold 0</c:v>
                </c:pt>
              </c:strCache>
            </c:strRef>
          </c:tx>
          <c:spPr>
            <a:ln w="28575" cap="flat">
              <a:solidFill>
                <a:srgbClr val="B91C1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0.52629999999999999</c:v>
                </c:pt>
                <c:pt idx="1">
                  <c:v>0.69850000000000001</c:v>
                </c:pt>
                <c:pt idx="2">
                  <c:v>0.77569999999999995</c:v>
                </c:pt>
                <c:pt idx="3">
                  <c:v>0.82030000000000003</c:v>
                </c:pt>
                <c:pt idx="4">
                  <c:v>0.78649999999999998</c:v>
                </c:pt>
                <c:pt idx="5">
                  <c:v>0.84250000000000003</c:v>
                </c:pt>
                <c:pt idx="6">
                  <c:v>0.83609999999999995</c:v>
                </c:pt>
                <c:pt idx="7">
                  <c:v>0.84399999999999997</c:v>
                </c:pt>
                <c:pt idx="8">
                  <c:v>0.84509999999999996</c:v>
                </c:pt>
                <c:pt idx="9">
                  <c:v>0.84030000000000005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06-4479-B489-51124C417A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Fold 1</c:v>
                </c:pt>
              </c:strCache>
            </c:strRef>
          </c:tx>
          <c:spPr>
            <a:ln w="28575" cap="flat">
              <a:solidFill>
                <a:srgbClr val="1F29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2937"/>
              </a:solidFill>
              <a:ln w="9525" cap="flat">
                <a:solidFill>
                  <a:srgbClr val="1F293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0.56299999999999994</c:v>
                </c:pt>
                <c:pt idx="1">
                  <c:v>0.68869999999999998</c:v>
                </c:pt>
                <c:pt idx="2">
                  <c:v>0.82640000000000002</c:v>
                </c:pt>
                <c:pt idx="3">
                  <c:v>0.85450000000000004</c:v>
                </c:pt>
                <c:pt idx="4">
                  <c:v>0.87660000000000005</c:v>
                </c:pt>
                <c:pt idx="5">
                  <c:v>0.87529999999999997</c:v>
                </c:pt>
                <c:pt idx="6">
                  <c:v>0.86480000000000001</c:v>
                </c:pt>
                <c:pt idx="7">
                  <c:v>0.86429999999999996</c:v>
                </c:pt>
                <c:pt idx="8">
                  <c:v>0.86809999999999998</c:v>
                </c:pt>
                <c:pt idx="9">
                  <c:v>0.86329999999999996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06-4479-B489-51124C417AE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Fold 2</c:v>
                </c:pt>
              </c:strCache>
            </c:strRef>
          </c:tx>
          <c:spPr>
            <a:ln w="28575" cap="flat">
              <a:solidFill>
                <a:srgbClr val="6B72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0.55689999999999995</c:v>
                </c:pt>
                <c:pt idx="1">
                  <c:v>0.78580000000000005</c:v>
                </c:pt>
                <c:pt idx="2">
                  <c:v>0.78739999999999999</c:v>
                </c:pt>
                <c:pt idx="3">
                  <c:v>0.8458</c:v>
                </c:pt>
                <c:pt idx="4">
                  <c:v>0.82550000000000001</c:v>
                </c:pt>
                <c:pt idx="5">
                  <c:v>0.82899999999999996</c:v>
                </c:pt>
                <c:pt idx="6">
                  <c:v>0.85150000000000003</c:v>
                </c:pt>
                <c:pt idx="7">
                  <c:v>0.83960000000000001</c:v>
                </c:pt>
                <c:pt idx="8">
                  <c:v>0.83540000000000003</c:v>
                </c:pt>
                <c:pt idx="9">
                  <c:v>0.84189999999999998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06-4479-B489-51124C417AE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Fold 3</c:v>
                </c:pt>
              </c:strCache>
            </c:strRef>
          </c:tx>
          <c:spPr>
            <a:ln w="28575" cap="flat">
              <a:solidFill>
                <a:srgbClr val="D1D5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1D5DB"/>
              </a:solidFill>
              <a:ln w="9525" cap="flat">
                <a:solidFill>
                  <a:srgbClr val="D1D5D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0.52790000000000004</c:v>
                </c:pt>
                <c:pt idx="1">
                  <c:v>0.77490000000000003</c:v>
                </c:pt>
                <c:pt idx="2">
                  <c:v>0.78610000000000002</c:v>
                </c:pt>
                <c:pt idx="3">
                  <c:v>0.77849999999999997</c:v>
                </c:pt>
                <c:pt idx="4">
                  <c:v>0.83379999999999999</c:v>
                </c:pt>
                <c:pt idx="5">
                  <c:v>0.81189999999999996</c:v>
                </c:pt>
                <c:pt idx="6">
                  <c:v>0.81140000000000001</c:v>
                </c:pt>
                <c:pt idx="7">
                  <c:v>0.82479999999999998</c:v>
                </c:pt>
                <c:pt idx="8">
                  <c:v>0.83530000000000004</c:v>
                </c:pt>
                <c:pt idx="9">
                  <c:v>0.83079999999999998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906-4479-B489-51124C417A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11827"/>
                    </a:solidFill>
                    <a:latin typeface="Helvetica Neue"/>
                  </a:defRPr>
                </a:pPr>
                <a:r>
                  <a:rPr lang="en-US" sz="1100" b="0" i="0" u="none" strike="noStrike">
                    <a:solidFill>
                      <a:srgbClr val="111827"/>
                    </a:solidFill>
                    <a:latin typeface="Helvetica Neue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3810" cap="flat">
              <a:solidFill>
                <a:srgbClr val="D1D5DB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11827"/>
                    </a:solidFill>
                    <a:latin typeface="Helvetica Neue"/>
                  </a:defRPr>
                </a:pPr>
                <a:r>
                  <a:rPr lang="en-US" sz="1100" b="0" i="0" u="none" strike="noStrike">
                    <a:solidFill>
                      <a:srgbClr val="111827"/>
                    </a:solidFill>
                    <a:latin typeface="Helvetica Neue"/>
                  </a:rPr>
                  <a:t>Validation Balanced Accuracy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11827"/>
              </a:solidFill>
              <a:latin typeface="Helvetica Neue"/>
              <a:cs typeface="Helvetica Neue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Acc.</c:v>
                </c:pt>
              </c:strCache>
            </c:strRef>
          </c:tx>
          <c:spPr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0.10</c:v>
                </c:pt>
                <c:pt idx="1">
                  <c:v>0.15</c:v>
                </c:pt>
                <c:pt idx="2">
                  <c:v>0.20</c:v>
                </c:pt>
                <c:pt idx="3">
                  <c:v>0.25</c:v>
                </c:pt>
                <c:pt idx="4">
                  <c:v>0.30</c:v>
                </c:pt>
                <c:pt idx="5">
                  <c:v>0.35</c:v>
                </c:pt>
                <c:pt idx="6">
                  <c:v>0.37</c:v>
                </c:pt>
                <c:pt idx="7">
                  <c:v>0.40</c:v>
                </c:pt>
                <c:pt idx="8">
                  <c:v>0.45</c:v>
                </c:pt>
                <c:pt idx="9">
                  <c:v>0.50</c:v>
                </c:pt>
                <c:pt idx="10">
                  <c:v>0.55</c:v>
                </c:pt>
                <c:pt idx="11">
                  <c:v>0.60</c:v>
                </c:pt>
                <c:pt idx="12">
                  <c:v>0.70</c:v>
                </c:pt>
                <c:pt idx="13">
                  <c:v>0.80</c:v>
                </c:pt>
                <c:pt idx="14">
                  <c:v>0.90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0.79500000000000004</c:v>
                </c:pt>
                <c:pt idx="1">
                  <c:v>0.82299999999999995</c:v>
                </c:pt>
                <c:pt idx="2">
                  <c:v>0.84699999999999998</c:v>
                </c:pt>
                <c:pt idx="3">
                  <c:v>0.86</c:v>
                </c:pt>
                <c:pt idx="4">
                  <c:v>0.872</c:v>
                </c:pt>
                <c:pt idx="5">
                  <c:v>0.878</c:v>
                </c:pt>
                <c:pt idx="6">
                  <c:v>0.88</c:v>
                </c:pt>
                <c:pt idx="7">
                  <c:v>0.879</c:v>
                </c:pt>
                <c:pt idx="8">
                  <c:v>0.873</c:v>
                </c:pt>
                <c:pt idx="9">
                  <c:v>0.85299999999999998</c:v>
                </c:pt>
                <c:pt idx="10">
                  <c:v>0.83199999999999996</c:v>
                </c:pt>
                <c:pt idx="11">
                  <c:v>0.80800000000000005</c:v>
                </c:pt>
                <c:pt idx="12">
                  <c:v>0.76</c:v>
                </c:pt>
                <c:pt idx="13">
                  <c:v>0.7</c:v>
                </c:pt>
                <c:pt idx="14">
                  <c:v>0.62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2B6-486A-9B08-8D6995B89B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11827"/>
                    </a:solidFill>
                    <a:latin typeface="Helvetica Neue"/>
                  </a:defRPr>
                </a:pPr>
                <a:r>
                  <a:rPr lang="en-US" sz="1100" b="0" i="0" u="none" strike="noStrike">
                    <a:solidFill>
                      <a:srgbClr val="111827"/>
                    </a:solidFill>
                    <a:latin typeface="Helvetica Neue"/>
                  </a:rPr>
                  <a:t>Threshold on P(AMF)</a:t>
                </a:r>
              </a:p>
            </c:rich>
          </c:tx>
          <c:layout>
            <c:manualLayout>
              <c:xMode val="edge"/>
              <c:yMode val="edge"/>
              <c:x val="0.43060461626324487"/>
              <c:y val="0.92255434782608703"/>
            </c:manualLayout>
          </c:layout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55000000000000004"/>
        </c:scaling>
        <c:delete val="0"/>
        <c:axPos val="l"/>
        <c:majorGridlines>
          <c:spPr>
            <a:ln w="3810" cap="flat">
              <a:solidFill>
                <a:srgbClr val="D1D5DB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11827"/>
                    </a:solidFill>
                    <a:latin typeface="Helvetica Neue"/>
                  </a:defRPr>
                </a:pPr>
                <a:r>
                  <a:rPr lang="en-US" sz="1100" b="0" i="0" u="none" strike="noStrike">
                    <a:solidFill>
                      <a:srgbClr val="111827"/>
                    </a:solidFill>
                    <a:latin typeface="Helvetica Neue"/>
                  </a:rPr>
                  <a:t>Validation Balanced Accuracy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831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41248" y="763269"/>
            <a:ext cx="548640" cy="0"/>
          </a:xfrm>
          <a:prstGeom prst="line">
            <a:avLst/>
          </a:prstGeom>
          <a:noFill/>
          <a:ln w="317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41248" y="4980940"/>
            <a:ext cx="3657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79748" y="642620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Department of Computer &amp; Information Sciences - PIEAS</a:t>
            </a:r>
            <a:endParaRPr lang="en-US" sz="1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A71FC51-D930-6C0C-20D6-5047DC72CA17}"/>
              </a:ext>
            </a:extLst>
          </p:cNvPr>
          <p:cNvSpPr/>
          <p:nvPr/>
        </p:nvSpPr>
        <p:spPr>
          <a:xfrm>
            <a:off x="841248" y="4041773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Discriminating atypical from normal mitoses.</a:t>
            </a:r>
            <a:endParaRPr lang="en-US" sz="18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1870380C-C10E-6369-30B1-E3CC7D1965E2}"/>
              </a:ext>
            </a:extLst>
          </p:cNvPr>
          <p:cNvSpPr/>
          <p:nvPr/>
        </p:nvSpPr>
        <p:spPr>
          <a:xfrm>
            <a:off x="841248" y="969644"/>
            <a:ext cx="94005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3A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Explainable System</a:t>
            </a:r>
            <a:r>
              <a:rPr lang="en-US" sz="6000" dirty="0"/>
              <a:t> </a:t>
            </a:r>
          </a:p>
          <a:p>
            <a:pPr marL="0" indent="0">
              <a:buNone/>
            </a:pPr>
            <a:r>
              <a:rPr lang="en-US" sz="6000" dirty="0">
                <a:solidFill>
                  <a:srgbClr val="3A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Mitotic Cell</a:t>
            </a:r>
            <a:r>
              <a:rPr lang="en-US" sz="6000" dirty="0"/>
              <a:t> </a:t>
            </a:r>
          </a:p>
          <a:p>
            <a:pPr marL="0" indent="0">
              <a:buNone/>
            </a:pPr>
            <a:r>
              <a:rPr lang="en-US" sz="6000" dirty="0">
                <a:solidFill>
                  <a:srgbClr val="3A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6000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830BCCBF-FBF8-C60C-7D2D-4192FDFFD771}"/>
              </a:ext>
            </a:extLst>
          </p:cNvPr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1E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2366157-43BF-16F1-E86A-6CCA243587D4}"/>
              </a:ext>
            </a:extLst>
          </p:cNvPr>
          <p:cNvSpPr/>
          <p:nvPr/>
        </p:nvSpPr>
        <p:spPr>
          <a:xfrm>
            <a:off x="841248" y="535051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419"/>
                </a:solidFill>
                <a:latin typeface="Helvetica Neue"/>
                <a:ea typeface="Georgia" pitchFamily="34" charset="-122"/>
                <a:cs typeface="Georgia" pitchFamily="34" charset="-120"/>
              </a:rPr>
              <a:t>Presented By: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1419"/>
                </a:solidFill>
                <a:latin typeface="Helvetica Neue"/>
                <a:ea typeface="Georgia" pitchFamily="34" charset="-122"/>
                <a:cs typeface="Georgia" pitchFamily="34" charset="-120"/>
              </a:rPr>
              <a:t>Sabir Hussain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1419"/>
                </a:solidFill>
                <a:latin typeface="Helvetica Neue"/>
                <a:ea typeface="Georgia" pitchFamily="34" charset="-122"/>
                <a:cs typeface="Georgia" pitchFamily="34" charset="-120"/>
              </a:rPr>
              <a:t>Muhammad Hamza Azhar</a:t>
            </a:r>
            <a:endParaRPr lang="en-US" sz="1400" dirty="0">
              <a:latin typeface="Helvetica Neue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249CBAC-F771-1721-4878-CB615042BFE2}"/>
              </a:ext>
            </a:extLst>
          </p:cNvPr>
          <p:cNvSpPr/>
          <p:nvPr/>
        </p:nvSpPr>
        <p:spPr>
          <a:xfrm>
            <a:off x="6822948" y="535051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419"/>
                </a:solidFill>
                <a:latin typeface="Helvetica Neue"/>
                <a:ea typeface="Georgia" pitchFamily="34" charset="-122"/>
                <a:cs typeface="Georgia" pitchFamily="34" charset="-120"/>
              </a:rPr>
              <a:t>Supervisor: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1419"/>
                </a:solidFill>
                <a:latin typeface="Helvetica Neue"/>
                <a:ea typeface="Georgia" pitchFamily="34" charset="-122"/>
                <a:cs typeface="Georgia" pitchFamily="34" charset="-120"/>
              </a:rPr>
              <a:t>Dr. Asifullah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59789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I.  Context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8540"/>
            <a:ext cx="3749040" cy="0"/>
          </a:xfrm>
          <a:prstGeom prst="line">
            <a:avLst/>
          </a:prstGeom>
          <a:noFill/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of contents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62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8620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atypical mitoses matter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09067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Clinical motivation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649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649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materials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5935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867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8679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problem worth naming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965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Imbalance and calibration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18465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II.  Method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2288540"/>
            <a:ext cx="3383280" cy="0"/>
          </a:xfrm>
          <a:prstGeom prst="line">
            <a:avLst/>
          </a:prstGeom>
          <a:noFill/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2514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5146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patch to probability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274320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0175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the model was trained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324612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recipe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18465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III.  Results &amp; analysis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0" y="2288540"/>
            <a:ext cx="3657600" cy="0"/>
          </a:xfrm>
          <a:prstGeom prst="line">
            <a:avLst/>
          </a:prstGeom>
          <a:noFill/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0" y="2514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32520" y="2514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each fold converged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32520" y="27432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behaviour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30175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Choosing the decision threshold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32520" y="324612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Threshold tuning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3520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32520" y="35204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the held-out test set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732520" y="37490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evaluation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4023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32520" y="40233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trade-off behind the headline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32520" y="42519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analysis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4526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32520" y="45262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Looking inside the model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732520" y="47548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Explainability methods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0" y="5029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32520" y="5029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Reading the heatmaps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732520" y="52578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Qualitative analysis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5532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32520" y="5532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system cannot yet do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732520" y="576072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I.  CONTEXT</a:t>
            </a:r>
            <a:endParaRPr lang="en-US" sz="1600" b="1" dirty="0"/>
          </a:p>
        </p:txBody>
      </p:sp>
      <p:sp>
        <p:nvSpPr>
          <p:cNvPr id="4" name="Text 2"/>
          <p:cNvSpPr/>
          <p:nvPr/>
        </p:nvSpPr>
        <p:spPr>
          <a:xfrm>
            <a:off x="548640" y="93091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atypical mitoses matter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79120" y="22123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Mitotic count is a cornerstone of tumour grading.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9120" y="2418080"/>
            <a:ext cx="6035040" cy="302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 not every mitosis carries the same prognostic weight. Atypical mitoses - with abnormal chromosome distribution, multipolar spindles, or asymmetric segregation - reflect underlying chromosomal instability.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Distinguishing them from ordinary mitoses is difficult, subjective, and time-consuming for pathologists.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040880" y="2237740"/>
            <a:ext cx="4572000" cy="30200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9480" y="243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69480" y="2831153"/>
            <a:ext cx="4114800" cy="1059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“High atypical mitotic figure ratio is independently associated with worse cancer outcomes.”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4112895"/>
            <a:ext cx="4114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69480" y="452437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Lashen et al., Modern Pathology (2022)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23760" y="482663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Yet inter-pathologist agreement on AMF reaches only ~78%.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I.  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 corpus of mitotic patches drawn from three challenge datasets.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8,362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originals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2,788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4805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 patches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2,788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41248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held-out test 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7320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 prevalence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113020"/>
            <a:ext cx="36118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Atypical mitoses make up ~16% of patches - a heavy natural imbalance the pipeline must respect at training and inference time.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47320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5113020"/>
            <a:ext cx="36118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MIDOG25 atypical training set, MIDOG21, and TUPAC16 - three scanners, multiple institutions, two years of challenges.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7066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 format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5113020"/>
            <a:ext cx="36118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224 × 224 RGB H&amp;E patches centred on a single mitotic figure. No bounding boxes, no slide identifiers.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I.  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problem worth naming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training and test distributions disagree by design - and that shapes everything downstream.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3931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DELIVERED  -  TRAINING 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 / 52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AMF / NMF ratio after author's 4× augmentation of the minority class.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526280"/>
            <a:ext cx="49377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in training but model probabilities then drift away from the natural distribution - calibration breaks.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5394960" cy="3931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EVALUATED  -  TEST 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611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/ 84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6446520" y="38176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AMF / NMF in held-out test data - the natural clinical prevalence.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4526280"/>
            <a:ext cx="49377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threshold must be tuned on validation, not left at 0.50 - otherwise predictions are biased toward the majority class.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mismatch shaped every later design choice in the pipeline.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II.  METHOD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patch to probability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Virchow2 (ViT-H / 14), adapted with LoRA.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8288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224 × 224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423160" y="2834640"/>
            <a:ext cx="320040" cy="0"/>
          </a:xfrm>
          <a:prstGeom prst="line">
            <a:avLst/>
          </a:prstGeom>
          <a:noFill/>
          <a:ln w="1524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88920" y="2194560"/>
            <a:ext cx="219456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Virchow2 backbone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frozen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632 M params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320040" cy="0"/>
          </a:xfrm>
          <a:prstGeom prst="line">
            <a:avLst/>
          </a:prstGeom>
          <a:noFill/>
          <a:ln w="1524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94960" y="2194560"/>
            <a:ext cx="18288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LoRA adapters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r=8, α=16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5.3 M trainable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69480" y="2834640"/>
            <a:ext cx="320040" cy="0"/>
          </a:xfrm>
          <a:prstGeom prst="line">
            <a:avLst/>
          </a:prstGeom>
          <a:noFill/>
          <a:ln w="1524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2194560"/>
            <a:ext cx="18288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352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Pooling + head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3524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CLS ⊕ mean → 2-class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509760" y="2834640"/>
            <a:ext cx="320040" cy="0"/>
          </a:xfrm>
          <a:prstGeom prst="line">
            <a:avLst/>
          </a:prstGeom>
          <a:noFill/>
          <a:ln w="1524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75520" y="2194560"/>
            <a:ext cx="173736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111827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755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Probability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7552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P(AMF)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P(NMF)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Why a foundation model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3032760" cy="0"/>
          </a:xfrm>
          <a:prstGeom prst="line">
            <a:avLst/>
          </a:prstGeom>
          <a:noFill/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881879"/>
            <a:ext cx="3032760" cy="1473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Virchow2 has already learned cellular morphology from millions of H&amp;E slides. Linear probing of foundation models on AMi-Br alone reaches only ~0.65 BA - fine-tuning is essential.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062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B. Why LoRA, not full fine-tuning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06240" y="4663440"/>
            <a:ext cx="3383280" cy="0"/>
          </a:xfrm>
          <a:prstGeom prst="line">
            <a:avLst/>
          </a:prstGeom>
          <a:noFill/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06240" y="4881879"/>
            <a:ext cx="3429000" cy="1330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LoRA injects low-rank matrices into attention and MLP layers. Only 0.83% of weights are trained, fitting comfortably on a single Kaggle T4 with fp16 mixed precision.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C. How features are pooled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0" y="4663440"/>
            <a:ext cx="3383280" cy="0"/>
          </a:xfrm>
          <a:prstGeom prst="line">
            <a:avLst/>
          </a:prstGeom>
          <a:noFill/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73720" y="4876797"/>
            <a:ext cx="3469640" cy="1198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CLS token concatenated with mean of patch tokens → 2,560-d vector. Register tokens (4) are skipped - they store global features that pollute classification.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6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II.  METHOD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8915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the model was trained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28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14600" y="2128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Focal Loss (γ = 2,  α = 0.25)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8572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2631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2631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Weighted random  -  inverse class freq.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8864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548640" y="3134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3134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AdamW  -  weight decay 0.05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9156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548640" y="363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rates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3637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1e-4 (LoRA) -  1e-5 (head)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9448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548640" y="414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Schedule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414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Cosine with 10% warmup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59740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548640" y="464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Batch / accumulation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4600" y="464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 ×  4 grad-accum  →  effective 64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128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Mixed precision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2128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fp16  AMP  +  gradient checkpointing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258572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6263640" y="2631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Augmentations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2631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D4 symmetry, HED jitter, RandStainNA-lite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308864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6263640" y="3134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Regularizer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3134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MixUp  α = 0.2  with  p = 0.5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359156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1" name="Text 29"/>
          <p:cNvSpPr/>
          <p:nvPr/>
        </p:nvSpPr>
        <p:spPr>
          <a:xfrm>
            <a:off x="6263640" y="363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Cross-validation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0" y="3637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4-fold StratifiedKFold,  10 epochs / fold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3640" y="409448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4" name="Text 32"/>
          <p:cNvSpPr/>
          <p:nvPr/>
        </p:nvSpPr>
        <p:spPr>
          <a:xfrm>
            <a:off x="6263640" y="414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0" y="414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8-view D4 TTA × 4-fold ensemble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63640" y="4597400"/>
            <a:ext cx="534924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7" name="Text 35"/>
          <p:cNvSpPr/>
          <p:nvPr/>
        </p:nvSpPr>
        <p:spPr>
          <a:xfrm>
            <a:off x="6263640" y="464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0" y="464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Temperature scaling (LBFGS on val NLL)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3880" y="53924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0" name="Text 38"/>
          <p:cNvSpPr/>
          <p:nvPr/>
        </p:nvSpPr>
        <p:spPr>
          <a:xfrm>
            <a:off x="563880" y="5631179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Configuration follows the published Virchow2 + LoRA benchmark (Banerjee et al., 2025), with focal loss substituted for cross-entropy and threshold tuning added to handle the train/test prevalence mismatch.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607040" y="647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III. 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each fold converged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 balanced accuracy across 10 epochs, four folds.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475199156"/>
              </p:ext>
            </p:extLst>
          </p:nvPr>
        </p:nvGraphicFramePr>
        <p:xfrm>
          <a:off x="548640" y="211836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177530" y="2423160"/>
            <a:ext cx="3429000" cy="29845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366760" y="2682241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66760" y="3141981"/>
            <a:ext cx="30505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folds cross 0.80 BA by epoch 4 - the foundation model converges fast.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Fold 1 reached the highest peak (0.877). Fold 3 was the slowest learner.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Mean best per-fold BA: 0.852 ± 0.015 - stable enough for a confident ensemble.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III. 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Choosing the decision threshold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a 16% AMF prevalence at test, the default 0.50 cutoff is the wrong call.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DEFAULT THRESHOLD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0.50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 argmax - biased toward majority class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TUNED ON VALIDATION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0.37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Maximises validation balanced 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 BA AT TUNE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0.880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 from 0.853 at the default threshold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2063926003"/>
              </p:ext>
            </p:extLst>
          </p:nvPr>
        </p:nvGraphicFramePr>
        <p:xfrm>
          <a:off x="5029200" y="201168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III.  RESULTS  -  FINAL 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the held-out test set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2,788 patches  -  evaluated once  -  ensemble of four folds with 8-view TTA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6140" y="2225042"/>
            <a:ext cx="6042660" cy="2628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0.861</a:t>
            </a:r>
            <a:endParaRPr lang="en-US" sz="13300" dirty="0"/>
          </a:p>
        </p:txBody>
      </p:sp>
      <p:sp>
        <p:nvSpPr>
          <p:cNvPr id="7" name="Text 5"/>
          <p:cNvSpPr/>
          <p:nvPr/>
        </p:nvSpPr>
        <p:spPr>
          <a:xfrm>
            <a:off x="899161" y="5029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BALANCED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ROC - AUC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0.945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63840" y="2560320"/>
            <a:ext cx="3657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 (AMF)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0.627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863840" y="3154680"/>
            <a:ext cx="3657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 (macro)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0.759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863840" y="3749040"/>
            <a:ext cx="3657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0.576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863840" y="4343400"/>
            <a:ext cx="3657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AMF Recall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0" y="4434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863840" y="4937760"/>
            <a:ext cx="3657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63840" y="5029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AMF Precision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0.480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863840" y="5532120"/>
            <a:ext cx="3657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612648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Published Virchow2 + LoRA single-model benchmark on AMi-Br: 0.814 BA. The ensemble + threshold tuning recipe adds approximately 5 BA points.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III.  RESULTS  -  ERROR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trade-off behind the headline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070801"/>
              </p:ext>
            </p:extLst>
          </p:nvPr>
        </p:nvGraphicFramePr>
        <p:xfrm>
          <a:off x="579120" y="2377440"/>
          <a:ext cx="594360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Predicted NMF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Predicted AMF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 NMF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1,927</a:t>
                      </a:r>
                      <a:endParaRPr lang="en-US" sz="2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426</a:t>
                      </a:r>
                      <a:endParaRPr lang="en-US" sz="2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 AMF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42</a:t>
                      </a:r>
                      <a:endParaRPr lang="en-US" sz="2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393</a:t>
                      </a:r>
                      <a:endParaRPr lang="en-US" sz="2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9120" y="55092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Confusion matrix on test set (n = 2,788). Light background = correct; accent fill = error.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0" y="2019300"/>
            <a:ext cx="4754880" cy="345694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223760" y="2280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READING</a:t>
            </a:r>
            <a:endParaRPr lang="en-US" sz="1400" b="1" dirty="0"/>
          </a:p>
        </p:txBody>
      </p:sp>
      <p:sp>
        <p:nvSpPr>
          <p:cNvPr id="9" name="Text 6"/>
          <p:cNvSpPr/>
          <p:nvPr/>
        </p:nvSpPr>
        <p:spPr>
          <a:xfrm>
            <a:off x="7223760" y="2868930"/>
            <a:ext cx="3964940" cy="208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393 of 435 atypical mitoses correctly identified  -  90.3% recall.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42 atypical mitoses missed.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 426 normal mitoses were flagged as atypical  -  precision on AMF is 48%.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right trade-off for screening: missing an atypical mitosis is more costly than over-calling one.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III.  RESULTS  -  EXPLAINABILITY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966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Looking inside the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3882" y="1662941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black box is unacceptable in pathology. Two methods, asking different questions.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5318" y="2423160"/>
            <a:ext cx="5334002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3920" y="2606039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612135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 Rollout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3920" y="308692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MODEL ATTENDED 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53440" y="3606800"/>
            <a:ext cx="4892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3440" y="3740527"/>
            <a:ext cx="4892040" cy="221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Aggregates the attention matrices across every transformer block, multiplied through with the residual identity. The CLS token's flow back to the patch grid produces a single saliency map.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Architecture-native, class-agnostic.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2682" y="2423160"/>
            <a:ext cx="5410198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609087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86600" y="2612135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Grad-CAM++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3063239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MADE IT PREDICT THIS CLASS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3606800"/>
            <a:ext cx="4892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3740528"/>
            <a:ext cx="4892040" cy="22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Computes gradients of the class logit with respect to the last block's normalized features. Higher-order weighting yields cleaner localisation than vanilla Grad-CAM.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Class-discriminative - a separate map per AMF / NMF.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III.  RESULTS  -  QUALITATIVE READING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28551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Reading the heatmaps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89000" y="1471518"/>
            <a:ext cx="10350500" cy="5295042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334585-A5A6-63CC-35BA-DAE973D7F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809" y="2057400"/>
            <a:ext cx="8640381" cy="1943371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A24FCF36-5467-E887-D40F-81F3CAA9E415}"/>
              </a:ext>
            </a:extLst>
          </p:cNvPr>
          <p:cNvSpPr/>
          <p:nvPr/>
        </p:nvSpPr>
        <p:spPr>
          <a:xfrm>
            <a:off x="4267199" y="160570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TN  true=NMF  pred=NMF  (p=0.92)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C362328-F959-86EE-DC0D-D5383808A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479" y="4722989"/>
            <a:ext cx="8640381" cy="1943371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89F96476-3F2C-A52B-4040-53C818ACC8B2}"/>
              </a:ext>
            </a:extLst>
          </p:cNvPr>
          <p:cNvSpPr/>
          <p:nvPr/>
        </p:nvSpPr>
        <p:spPr>
          <a:xfrm>
            <a:off x="4293869" y="426578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TP  true=AMF  pred=AMF  (p=0.83)</a:t>
            </a:r>
            <a:endParaRPr lang="en-US" sz="105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LIMITATIONS  -  HONEST ACCOUNTING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system cannot yet 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415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slide-level grouping in cross-validation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91640" y="2288540"/>
            <a:ext cx="9921240" cy="708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dataset exposes no slide_id, so patches from one whole-slide image may end up in different folds. Cross-validation scores are therefore optimistically biased; the held-out test set is the only honest estimate.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91640" y="3147060"/>
            <a:ext cx="9921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4569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345948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48% precision on the atypical class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950972"/>
            <a:ext cx="9921240" cy="57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model over-flags normal mitoses to keep recall high. In a clinical workflow this would mean a pathologist still has to confirm each positive. Acceptable for screening, not for autonomous reporting.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91640" y="4726940"/>
            <a:ext cx="9921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5006341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0" y="5050156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Calibration remains imperfect after temperature scaling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5507356"/>
            <a:ext cx="9921240" cy="65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Expected calibration error on test is 0.099 even after temperature optimisation. Probability scores should be interpreted as ranks, not as well-calibrated likelihoods.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6600" y="2360296"/>
            <a:ext cx="5638800" cy="144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2800" b="1" dirty="0"/>
          </a:p>
        </p:txBody>
      </p:sp>
      <p:sp>
        <p:nvSpPr>
          <p:cNvPr id="3" name="Shape 1"/>
          <p:cNvSpPr/>
          <p:nvPr/>
        </p:nvSpPr>
        <p:spPr>
          <a:xfrm>
            <a:off x="822960" y="1303020"/>
            <a:ext cx="548640" cy="0"/>
          </a:xfrm>
          <a:prstGeom prst="line">
            <a:avLst/>
          </a:prstGeom>
          <a:noFill/>
          <a:ln w="317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02760" y="4008120"/>
            <a:ext cx="3657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438400" y="4236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3741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 and discussion welcome.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1380</Words>
  <Application>Microsoft Office PowerPoint</Application>
  <PresentationFormat>Widescreen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Consolas</vt:lpstr>
      <vt:lpstr>Georgia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Explainable System for Mitotic Cell Classification</dc:title>
  <dc:subject>PptxGenJS Presentation</dc:subject>
  <dc:creator>Hamza Azhar</dc:creator>
  <cp:lastModifiedBy>Muhammad Hamza Azhar</cp:lastModifiedBy>
  <cp:revision>32</cp:revision>
  <dcterms:created xsi:type="dcterms:W3CDTF">2026-05-10T05:58:57Z</dcterms:created>
  <dcterms:modified xsi:type="dcterms:W3CDTF">2026-05-10T17:10:17Z</dcterms:modified>
</cp:coreProperties>
</file>